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269" r:id="rId4"/>
    <p:sldId id="282" r:id="rId5"/>
    <p:sldId id="283" r:id="rId6"/>
    <p:sldId id="284" r:id="rId7"/>
    <p:sldId id="285" r:id="rId8"/>
    <p:sldId id="277" r:id="rId9"/>
    <p:sldId id="286" r:id="rId10"/>
    <p:sldId id="270" r:id="rId11"/>
    <p:sldId id="271" r:id="rId12"/>
    <p:sldId id="272" r:id="rId13"/>
    <p:sldId id="287" r:id="rId14"/>
    <p:sldId id="273" r:id="rId15"/>
    <p:sldId id="281" r:id="rId16"/>
    <p:sldId id="276" r:id="rId17"/>
    <p:sldId id="278" r:id="rId18"/>
    <p:sldId id="274" r:id="rId19"/>
    <p:sldId id="275" r:id="rId20"/>
    <p:sldId id="279" r:id="rId21"/>
    <p:sldId id="280" r:id="rId22"/>
    <p:sldId id="288" r:id="rId23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88C3C24-7588-4F88-8CBC-48787B3CCB06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866F6364-FC38-44D2-8AF2-67F4A19AF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047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0T06:42:35.912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84,'33'-2,"-1"-1,0-2,46-13,-42 9,0 2,48-5,32-1,-74 6,54 0,360 8,-441 0,0 1,0 0,-1 2,1 0,-1 0,18 9,37 10,-37-15,-3-1,42 6,-60-12,0 0,0-1,0 0,0-1,0-1,0 0,15-4,68-28,-72 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0T06:42:46.72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0,'2898'0'0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8551104-E7CB-4F4F-9AB2-5E187E357CA3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3CF50FB-4805-4181-8201-033B4DE1A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915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06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392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69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6900-B7E4-46A1-405A-E61BF6DB2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5DF08-9B29-1908-2DDC-2620F3030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3FA92-32E7-5BAF-B9A9-B0DAA5D4F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0474-57B8-F7D0-4414-091BA0FC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BC77B-4450-1352-FA55-90D99C0C7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3126E-69E9-7BD7-AE3C-3BAE8AE0D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0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7BAC-C416-BE2A-3EC8-82A2E060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CF8CD-8754-DA85-9B0B-7F276ACBF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75358-1830-7021-5913-388212623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E8EF-A002-2C44-4BF1-B97E69D9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394D9-3E42-BCC9-F3E3-11AB386FC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39B91-513F-78CB-99F7-74E19AE5B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072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390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3A0D-4E7C-8425-31B4-B8BDA890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B5E7F-E7B4-45E8-30B4-270D8B756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B4E8B-9007-AF76-BAAF-D4B99A2AA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894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79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55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299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A5F1-5114-4933-884E-9B919D59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E17F8-B182-E927-5588-D520DE550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886C6-CD62-CF77-B39B-4F4604954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17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29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20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20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41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2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1E72-8E7E-432C-81F1-3C56E8E0A19C}" type="datetime1">
              <a:rPr lang="en-US" smtClean="0"/>
              <a:t>5/20/2025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001E-140B-4FCD-B8A9-813B90823C1E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35AB-4513-43F3-9C06-C63638881703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91E1-1757-4926-B7CC-97148996E64C}" type="datetime1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884E-826D-4E37-BAA9-FA5C6550F8A2}" type="datetime1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B1A1E-4B6D-4448-8F57-C311C2B4FB06}" type="datetime1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A9FC-9262-46CA-97ED-E780013DA1ED}" type="datetime1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F58B-FD74-4DD5-A778-06CBB9AC06EF}" type="datetime1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CB38-A8D8-43B0-BE29-7BB9B1B20129}" type="datetime1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B98B-ED11-47DC-8E60-C60B9132757F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49B-6570-45CF-9835-E1B3D5B7E04A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D170EBA-9FB2-4389-9EA7-B02A15CFBCE5}" type="datetime1">
              <a:rPr lang="en-US" smtClean="0"/>
              <a:t>5/20/2025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Dept. of ISE, SCEM, Mangaluru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25681"/>
            <a:ext cx="7391400" cy="817319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/>
              <a:t>Real-Time Heart Health Monitoring and Emergency Alert System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1524000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DISHA			            4SF22CD018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SREYA P		            4SF22CD047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TANISHA SALONI	            4SF22CD052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THRISHA D BANGERA	            4SF22CD054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9745" y="2764958"/>
            <a:ext cx="5638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Mrs. Suchetha G</a:t>
            </a: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Assistant Professor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Department of Information Science &amp; Engineering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at</a:t>
            </a:r>
          </a:p>
          <a:p>
            <a:pPr algn="ctr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algn="ctr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SAHYADRI</a:t>
            </a:r>
          </a:p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Engineering &amp; Management</a:t>
            </a:r>
          </a:p>
          <a:p>
            <a:pPr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Mangaluru – 575007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6A936B-C502-4BFC-96BF-FAE07ECA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59" y="4459259"/>
            <a:ext cx="10969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838200"/>
            <a:ext cx="7498080" cy="532998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strokes are a leading cause of sudden death due to delayed detection and response.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lack real-time tracking and alert mechanisms.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offers a cloud-based system for continuous monitoring of vital signs (heart rate, BP, SpO₂, temperature).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ESP32 microcontroller and sensors to collect and send data wirelessly to the cloud.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remote access and instant alerts, improving early detection and patient care.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679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34306"/>
              </p:ext>
            </p:extLst>
          </p:nvPr>
        </p:nvGraphicFramePr>
        <p:xfrm>
          <a:off x="1143000" y="652315"/>
          <a:ext cx="7714488" cy="5748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158">
                  <a:extLst>
                    <a:ext uri="{9D8B030D-6E8A-4147-A177-3AD203B41FA5}">
                      <a16:colId xmlns:a16="http://schemas.microsoft.com/office/drawing/2014/main" val="1655095855"/>
                    </a:ext>
                  </a:extLst>
                </a:gridCol>
                <a:gridCol w="2752242">
                  <a:extLst>
                    <a:ext uri="{9D8B030D-6E8A-4147-A177-3AD203B41FA5}">
                      <a16:colId xmlns:a16="http://schemas.microsoft.com/office/drawing/2014/main" val="39553708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29391667"/>
                    </a:ext>
                  </a:extLst>
                </a:gridCol>
                <a:gridCol w="2380488">
                  <a:extLst>
                    <a:ext uri="{9D8B030D-6E8A-4147-A177-3AD203B41FA5}">
                      <a16:colId xmlns:a16="http://schemas.microsoft.com/office/drawing/2014/main" val="3249324118"/>
                    </a:ext>
                  </a:extLst>
                </a:gridCol>
              </a:tblGrid>
              <a:tr h="5809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Project 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378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Medical alert system for remote health monitoring using sensors and cloud computing </a:t>
                      </a:r>
                    </a:p>
                    <a:p>
                      <a:pPr algn="just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supports remote health monitoring using sensors and cloud to track vital signs and generate emergency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and sensors together help in continuous health monitoring and quick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04419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wearable </a:t>
                      </a:r>
                      <a:r>
                        <a:rPr kumimoji="0"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mobihealth</a:t>
                      </a:r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care system supporting real-time diagnosis and alarm</a:t>
                      </a:r>
                    </a:p>
                    <a:p>
                      <a:pPr algn="just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enables real-time health monitoring and emergency alerts, similar to the goal of my project</a:t>
                      </a:r>
                      <a:r>
                        <a:rPr lang="en-US" sz="16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Wearable systems can provide continuous, real-time diagnosis and timely alerts to improve patient care.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043859"/>
                  </a:ext>
                </a:extLst>
              </a:tr>
              <a:tr h="20486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Cardiac Care Assistance using Self Configured Sensor Network— a Remote Patient Monitoring System</a:t>
                      </a:r>
                    </a:p>
                    <a:p>
                      <a:pPr algn="just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sensors for remote monitoring of patients’ heart health, which aligns with my project’s goal of tracking vital signs and sending alerts</a:t>
                      </a:r>
                      <a:r>
                        <a:rPr lang="en-US" sz="16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Self-configured sensor networks can effectively monitor cardiac health remotely and provide timely alerts for emergencies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33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3B672-2391-3309-1EC3-F4A3113D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76A9-D619-E1DA-DE5A-EA8BB505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3EDC3-870F-453C-0300-3E788463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C3714-8233-0E9B-DA4B-0E53E8DB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E4EA5-27D6-05C9-D93D-033C5339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969195-2170-835F-6A51-390DAB24E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234944"/>
              </p:ext>
            </p:extLst>
          </p:nvPr>
        </p:nvGraphicFramePr>
        <p:xfrm>
          <a:off x="990600" y="571551"/>
          <a:ext cx="8080247" cy="6057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469">
                  <a:extLst>
                    <a:ext uri="{9D8B030D-6E8A-4147-A177-3AD203B41FA5}">
                      <a16:colId xmlns:a16="http://schemas.microsoft.com/office/drawing/2014/main" val="1655095855"/>
                    </a:ext>
                  </a:extLst>
                </a:gridCol>
                <a:gridCol w="2882731">
                  <a:extLst>
                    <a:ext uri="{9D8B030D-6E8A-4147-A177-3AD203B41FA5}">
                      <a16:colId xmlns:a16="http://schemas.microsoft.com/office/drawing/2014/main" val="3955370827"/>
                    </a:ext>
                  </a:extLst>
                </a:gridCol>
                <a:gridCol w="1826222">
                  <a:extLst>
                    <a:ext uri="{9D8B030D-6E8A-4147-A177-3AD203B41FA5}">
                      <a16:colId xmlns:a16="http://schemas.microsoft.com/office/drawing/2014/main" val="2229391667"/>
                    </a:ext>
                  </a:extLst>
                </a:gridCol>
                <a:gridCol w="2502825">
                  <a:extLst>
                    <a:ext uri="{9D8B030D-6E8A-4147-A177-3AD203B41FA5}">
                      <a16:colId xmlns:a16="http://schemas.microsoft.com/office/drawing/2014/main" val="3249324118"/>
                    </a:ext>
                  </a:extLst>
                </a:gridCol>
              </a:tblGrid>
              <a:tr h="5639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Project 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378"/>
                  </a:ext>
                </a:extLst>
              </a:tr>
              <a:tr h="19887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of Low-Cost, Wearable Remote Health </a:t>
                      </a:r>
                    </a:p>
                    <a:p>
                      <a:pPr algn="just"/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Monitoring and Alert System for Elderly Heart Patients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focuses on a low-cost, wearable system to monitor heart health and send alerts, similar to my idea of remote patient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Affordable wearable devices can help monitor elderly patients’ heart health and provide timely alerts to prevent emergencies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04419"/>
                  </a:ext>
                </a:extLst>
              </a:tr>
              <a:tr h="169935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ECG alert: A Heart attack alert system</a:t>
                      </a:r>
                      <a:endParaRPr kumimoji="0" lang="en-IN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provides early alerts for heart attacks, which aligns with my project’s aim to generate emergency alerts based on vital signs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detection and alert systems like ECG alert can save lives by notifying patients and doctors quickly during heart emergencies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043859"/>
                  </a:ext>
                </a:extLst>
              </a:tr>
              <a:tr h="169935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/>
                    </a:p>
                    <a:p>
                      <a:pPr algn="just"/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 Based Real Time Heart Health Monitoring System </a:t>
                      </a:r>
                    </a:p>
                    <a:p>
                      <a:pPr algn="just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IoT to monitor heart health in real time, similar to my project’s goal of continuous remote patient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technology enables real-time tracking of heart health, improving timely response to critical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40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0FA8-C945-2B7F-27AB-F6D0ABE9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FB17-EF9B-E338-40B6-1474D5E28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6F2D-AFD8-3BD0-47D7-B39D46BC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642B6-4B86-8C71-F11F-131503812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C6E5-4E42-B62E-597A-92023590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59BEAC-89CF-16BA-4923-EF6B06BA1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82174"/>
              </p:ext>
            </p:extLst>
          </p:nvPr>
        </p:nvGraphicFramePr>
        <p:xfrm>
          <a:off x="1143000" y="652315"/>
          <a:ext cx="7714488" cy="5934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158">
                  <a:extLst>
                    <a:ext uri="{9D8B030D-6E8A-4147-A177-3AD203B41FA5}">
                      <a16:colId xmlns:a16="http://schemas.microsoft.com/office/drawing/2014/main" val="1655095855"/>
                    </a:ext>
                  </a:extLst>
                </a:gridCol>
                <a:gridCol w="2752242">
                  <a:extLst>
                    <a:ext uri="{9D8B030D-6E8A-4147-A177-3AD203B41FA5}">
                      <a16:colId xmlns:a16="http://schemas.microsoft.com/office/drawing/2014/main" val="39553708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29391667"/>
                    </a:ext>
                  </a:extLst>
                </a:gridCol>
                <a:gridCol w="2380488">
                  <a:extLst>
                    <a:ext uri="{9D8B030D-6E8A-4147-A177-3AD203B41FA5}">
                      <a16:colId xmlns:a16="http://schemas.microsoft.com/office/drawing/2014/main" val="3249324118"/>
                    </a:ext>
                  </a:extLst>
                </a:gridCol>
              </a:tblGrid>
              <a:tr h="5809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Project 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378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Health Monitoring System Using Smart Phones and Wearable Sensors</a:t>
                      </a:r>
                    </a:p>
                    <a:p>
                      <a:pPr algn="just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smartphones and sensors for remote health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Smartphones and sensors enable easy and continuous health tracking.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04419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 Wear: A Smart Wear for Continuous Body Vital Monitoring and Emergency Alert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relevant because it monitors body vitals continuously and sends emergency alerts, like my project.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shows how smart wearables can improve timely health monitoring and alerting.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043859"/>
                  </a:ext>
                </a:extLst>
              </a:tr>
              <a:tr h="20486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algn="just"/>
                      <a:r>
                        <a:rPr kumimoji="0" lang="en-IN" sz="165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Wheats: A wearable personal healthcare and emergency alert and tracking system</a:t>
                      </a:r>
                      <a:endParaRPr kumimoji="0" lang="en-IN" sz="165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offers wearable health monitoring with emergency alerts and tracking, similar to my idea</a:t>
                      </a:r>
                      <a:r>
                        <a:rPr lang="en-US" sz="16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Wearable systems can help track health and provide quick alerts during emergencies.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8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4024-945F-32F3-7E17-22B92425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0C2D-73ED-EAA1-7ED9-41164D44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91126-E86E-3619-F5C6-1E3034B3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8553A-83CD-3975-F138-98402CF1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CBE5-4121-A678-BC40-7E49DF12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8B8E41-634D-0C30-8F44-DF43F109B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282053"/>
              </p:ext>
            </p:extLst>
          </p:nvPr>
        </p:nvGraphicFramePr>
        <p:xfrm>
          <a:off x="1143000" y="652315"/>
          <a:ext cx="7714488" cy="5926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158">
                  <a:extLst>
                    <a:ext uri="{9D8B030D-6E8A-4147-A177-3AD203B41FA5}">
                      <a16:colId xmlns:a16="http://schemas.microsoft.com/office/drawing/2014/main" val="1655095855"/>
                    </a:ext>
                  </a:extLst>
                </a:gridCol>
                <a:gridCol w="2752242">
                  <a:extLst>
                    <a:ext uri="{9D8B030D-6E8A-4147-A177-3AD203B41FA5}">
                      <a16:colId xmlns:a16="http://schemas.microsoft.com/office/drawing/2014/main" val="39553708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29391667"/>
                    </a:ext>
                  </a:extLst>
                </a:gridCol>
                <a:gridCol w="2380488">
                  <a:extLst>
                    <a:ext uri="{9D8B030D-6E8A-4147-A177-3AD203B41FA5}">
                      <a16:colId xmlns:a16="http://schemas.microsoft.com/office/drawing/2014/main" val="3249324118"/>
                    </a:ext>
                  </a:extLst>
                </a:gridCol>
              </a:tblGrid>
              <a:tr h="5809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Project 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378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a Monitoring Device for Heart-Attack Early </a:t>
                      </a:r>
                    </a:p>
                    <a:p>
                      <a:pPr algn="just"/>
                      <a:r>
                        <a:rPr kumimoji="0"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Detection Based on Respiration Rate and Body Temperature Parameters  </a:t>
                      </a:r>
                    </a:p>
                    <a:p>
                      <a:pPr algn="just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vital signs like respiration and temperature to detect early signs of heart attacks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key body parameters can help in early detection of heart-related emergencies.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04419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novel wireless sensor network deployment for monitoring and predicting abnormal actions in medical environment and patient health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wireless sensors to monitor patient health and detect abnormal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sensor networks can effectively monitor and predict health issues in real time.</a:t>
                      </a:r>
                    </a:p>
                    <a:p>
                      <a:pPr algn="just"/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043859"/>
                  </a:ext>
                </a:extLst>
              </a:tr>
              <a:tr h="20486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Wearable IoT (w-IoT) artificial intelligence (AI) solution for sustainable smart-healthcare</a:t>
                      </a:r>
                    </a:p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combines wearable IoT and AI for smart healthcare.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with wearable IoT can enhance health monitoring by making it smarter and more responsive.</a:t>
                      </a:r>
                    </a:p>
                    <a:p>
                      <a:pPr algn="just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97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6673-7982-D0EC-A3B8-8A949A87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7610-626A-6C0A-3301-0254D473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F9B6D-D8A1-B2EE-3044-D017B4E8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803FC-B174-DD5D-81B7-A82BD98E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85828-DCDE-0584-2700-15EAA2D1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305585-9A0C-B987-7D63-8AB4B6F84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095221"/>
              </p:ext>
            </p:extLst>
          </p:nvPr>
        </p:nvGraphicFramePr>
        <p:xfrm>
          <a:off x="1143000" y="597856"/>
          <a:ext cx="7714488" cy="5985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158">
                  <a:extLst>
                    <a:ext uri="{9D8B030D-6E8A-4147-A177-3AD203B41FA5}">
                      <a16:colId xmlns:a16="http://schemas.microsoft.com/office/drawing/2014/main" val="1655095855"/>
                    </a:ext>
                  </a:extLst>
                </a:gridCol>
                <a:gridCol w="2752242">
                  <a:extLst>
                    <a:ext uri="{9D8B030D-6E8A-4147-A177-3AD203B41FA5}">
                      <a16:colId xmlns:a16="http://schemas.microsoft.com/office/drawing/2014/main" val="39553708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29391667"/>
                    </a:ext>
                  </a:extLst>
                </a:gridCol>
                <a:gridCol w="2380488">
                  <a:extLst>
                    <a:ext uri="{9D8B030D-6E8A-4147-A177-3AD203B41FA5}">
                      <a16:colId xmlns:a16="http://schemas.microsoft.com/office/drawing/2014/main" val="3249324118"/>
                    </a:ext>
                  </a:extLst>
                </a:gridCol>
              </a:tblGrid>
              <a:tr h="58096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the Project 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1378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learning-based smart wearable system for cardia </a:t>
                      </a:r>
                      <a:r>
                        <a:rPr kumimoji="0"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carrest</a:t>
                      </a: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monitoring using hybrid computing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machine learning and wearable devices to monitor cardiac arrest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improves the accuracy and efficiency of detecting critical heart conditions in wearable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04419"/>
                  </a:ext>
                </a:extLst>
              </a:tr>
              <a:tr h="15594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Effective Diagnosis and Monitoring of Heart Disease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focuses on diagnosing and monitoring heart disease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 helps in early detection and better management of heart disease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043859"/>
                  </a:ext>
                </a:extLst>
              </a:tr>
              <a:tr h="204866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[15]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r>
                        <a:rPr kumimoji="0"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Real-Time Elderly Healthcare Monitoring Expert System Using </a:t>
                      </a:r>
                    </a:p>
                    <a:p>
                      <a:pPr algn="just"/>
                      <a:r>
                        <a:rPr kumimoji="0" lang="en-IN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Wireless Sensor Network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uses wireless sensors for real-time health monitoring of the elderly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sensor networks enable continuous and efficient health monitoring for elderly patients.</a:t>
                      </a:r>
                    </a:p>
                    <a:p>
                      <a:pPr algn="just"/>
                      <a:endParaRPr lang="en-US" dirty="0"/>
                    </a:p>
                    <a:p>
                      <a:pPr algn="just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89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95400" y="838200"/>
            <a:ext cx="7638288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Research Gaps identified from the Literature Review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battery life and computational power in wearable health monitoring devices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real-time data transmission from wearable sensors to healthcare providers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seamless integration between wearable sensors and cloud platforms.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reliable emergency alert mechanisms in many existing systems.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R5: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machine learning implementation for predicting critical health conditions.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R6: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available smart healthcare systems, limiting their use in low-resource settings.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R7: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monitoring multiple vital signs simultaneously with accuracy.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of the Research gaps shall be your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25212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26C8-C31C-B45A-9B37-9F08EBA4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180B-FB47-38C9-F659-653764C9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05" y="88752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C75E0-5926-A702-B88C-8DF4F55447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D8DD0-F898-1216-3B1C-E93E5ADD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CE324-A0E6-22A2-33C6-B32B6D3F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7A695-6BC5-B8B4-ACF4-F0AACBB16DB5}"/>
              </a:ext>
            </a:extLst>
          </p:cNvPr>
          <p:cNvSpPr/>
          <p:nvPr/>
        </p:nvSpPr>
        <p:spPr>
          <a:xfrm>
            <a:off x="1295400" y="838200"/>
            <a:ext cx="7638288" cy="7355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Research Gaps identified from the Literature Review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R8: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user-friendly interfaces for patients and caregivers.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R9: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network coverage or data loss in remote health monitoring setups.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focus on elderly and high-risk patients who need constant supervision.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data security and privacy measures for sensitive health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of existing systems for monitoring large patient populations.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Infrequent or no updates of health records in real-time for physicians access.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systems capable of functioning offline and syncing data when internet is available</a:t>
            </a:r>
            <a:r>
              <a:rPr lang="en-US" sz="2000" dirty="0"/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R15: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on voice-based alerts for non-technical users during emergencies.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9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3E6F016-9563-910D-4A55-A80CFADF3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781503"/>
            <a:ext cx="8004048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algn="just">
              <a:buNone/>
            </a:pPr>
            <a:r>
              <a:rPr lang="en-US" sz="2000" dirty="0"/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strokes are a major global health threat, often resulting in sudden death or long-term disability due to the lack of real-time monitoring and delayed medical response. There is a need for a smart, affordable system that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 vital signs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rate, blood pressure, oxygen saturation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temperature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caregivers or healthcare providers, ensuring timely intervention and improved patient outcomes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9D17BCB-8ACC-3C2D-AE67-008A312DD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694" y="3594683"/>
            <a:ext cx="746626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smart, affordable real-time health monitoring system that continuously tracks vital signs and instantly alerts caregivers to enable timely medical intervention and reduce heart stroke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79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848" y="66599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1008" y="914400"/>
            <a:ext cx="7609840" cy="4876800"/>
          </a:xfrm>
        </p:spPr>
        <p:txBody>
          <a:bodyPr>
            <a:noAutofit/>
          </a:bodyPr>
          <a:lstStyle/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Ob1: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vital health parameters such as heart rate, blood pressure, oxygen saturation (SpO₂), and body temperature.</a:t>
            </a: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Ob2: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transmit real-time health data wirelessly to a cloud platform for remote access and centralized storage.</a:t>
            </a:r>
          </a:p>
          <a:p>
            <a:pPr marL="82296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Ob3: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abnormal health conditions and generate instant alerts for caregivers or medical professionals.</a:t>
            </a:r>
          </a:p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provide a simple and user-friendly interface that allows users to easily view and understand their health status.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83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16451"/>
              </p:ext>
            </p:extLst>
          </p:nvPr>
        </p:nvGraphicFramePr>
        <p:xfrm>
          <a:off x="1828800" y="1676400"/>
          <a:ext cx="65532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O1: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of multiple sensors into a single wearable device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  <a:p>
                      <a:r>
                        <a:rPr lang="en-IN" dirty="0"/>
                        <a:t>O2: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Reduction in the need for manual health checks.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/>
                        <a:t>O3: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health data visualization on mobile or web applications.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O1: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wireless transmission of health data to the cloud.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/>
                        <a:t>O2: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centralized storage of patient health information.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dirty="0"/>
                        <a:t>O3: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remote access to real-time data by doctors and caregivers.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773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AA52-1447-11C6-798D-488D66D6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1E436-78B9-2C6D-E402-4B348FC6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84BF-70CF-2D2C-D59E-59C4AD230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689811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DBEE8-E817-95A9-9B58-F7BAE176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A104B-C870-1E54-9E55-863B3564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7C278-603D-C017-5F42-612D6A2A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32CA40-391A-3B3C-C54C-16FFFAA15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6932"/>
              </p:ext>
            </p:extLst>
          </p:nvPr>
        </p:nvGraphicFramePr>
        <p:xfrm>
          <a:off x="1828800" y="1676400"/>
          <a:ext cx="6553200" cy="44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O1: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detection of abnormal vital signs in real time.</a:t>
                      </a:r>
                    </a:p>
                    <a:p>
                      <a:pPr algn="just"/>
                      <a:r>
                        <a:rPr lang="en-IN" dirty="0"/>
                        <a:t>O2: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generation of alerts when critical conditions occur.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dirty="0"/>
                        <a:t>O3: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response and intervention by caregivers or medical professionals.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O1: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clear and easy-to-use interface for health data display.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dirty="0"/>
                        <a:t>O2: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user understanding of their current health status.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dirty="0"/>
                        <a:t>O3: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 engagement and timely health monitoring.</a:t>
                      </a:r>
                    </a:p>
                    <a:p>
                      <a:pPr algn="just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22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ABC4BD2-2A3A-FE24-5D9D-5C1FE7636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27298" y="223535"/>
            <a:ext cx="11152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99E7556-E6AF-49B4-F926-6973BC2BB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513241"/>
              </p:ext>
            </p:extLst>
          </p:nvPr>
        </p:nvGraphicFramePr>
        <p:xfrm>
          <a:off x="1085877" y="708656"/>
          <a:ext cx="7984970" cy="5878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72">
                  <a:extLst>
                    <a:ext uri="{9D8B030D-6E8A-4147-A177-3AD203B41FA5}">
                      <a16:colId xmlns:a16="http://schemas.microsoft.com/office/drawing/2014/main" val="992152511"/>
                    </a:ext>
                  </a:extLst>
                </a:gridCol>
                <a:gridCol w="1017580">
                  <a:extLst>
                    <a:ext uri="{9D8B030D-6E8A-4147-A177-3AD203B41FA5}">
                      <a16:colId xmlns:a16="http://schemas.microsoft.com/office/drawing/2014/main" val="4166803942"/>
                    </a:ext>
                  </a:extLst>
                </a:gridCol>
                <a:gridCol w="1979453">
                  <a:extLst>
                    <a:ext uri="{9D8B030D-6E8A-4147-A177-3AD203B41FA5}">
                      <a16:colId xmlns:a16="http://schemas.microsoft.com/office/drawing/2014/main" val="1355434791"/>
                    </a:ext>
                  </a:extLst>
                </a:gridCol>
                <a:gridCol w="1058227">
                  <a:extLst>
                    <a:ext uri="{9D8B030D-6E8A-4147-A177-3AD203B41FA5}">
                      <a16:colId xmlns:a16="http://schemas.microsoft.com/office/drawing/2014/main" val="60227381"/>
                    </a:ext>
                  </a:extLst>
                </a:gridCol>
                <a:gridCol w="1117478">
                  <a:extLst>
                    <a:ext uri="{9D8B030D-6E8A-4147-A177-3AD203B41FA5}">
                      <a16:colId xmlns:a16="http://schemas.microsoft.com/office/drawing/2014/main" val="272080207"/>
                    </a:ext>
                  </a:extLst>
                </a:gridCol>
                <a:gridCol w="1588560">
                  <a:extLst>
                    <a:ext uri="{9D8B030D-6E8A-4147-A177-3AD203B41FA5}">
                      <a16:colId xmlns:a16="http://schemas.microsoft.com/office/drawing/2014/main" val="967149754"/>
                    </a:ext>
                  </a:extLst>
                </a:gridCol>
              </a:tblGrid>
              <a:tr h="56858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Software/Library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Speed/Performance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Size(MB)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Quantity/Usage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14373"/>
                  </a:ext>
                </a:extLst>
              </a:tr>
              <a:tr h="62843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UI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~100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1(Frontend Mobile App)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18081"/>
                  </a:ext>
                </a:extLst>
              </a:tr>
              <a:tr h="89776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(Backend   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anomly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detection)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46995"/>
                  </a:ext>
                </a:extLst>
              </a:tr>
              <a:tr h="720706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High-performance I/O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1(Backend API handling)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385667"/>
                  </a:ext>
                </a:extLst>
              </a:tr>
              <a:tr h="89776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Realtime DB and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1(Cloud storage/alerts)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486341"/>
                  </a:ext>
                </a:extLst>
              </a:tr>
              <a:tr h="62843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 Atlas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High-speed NoSQL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1(Session/Data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68889"/>
                  </a:ext>
                </a:extLst>
              </a:tr>
              <a:tr h="62843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Twilio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SMS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1(Notification)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968006"/>
                  </a:ext>
                </a:extLst>
              </a:tr>
              <a:tr h="89776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login/auth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1(Authentication service)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847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87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1B2C544-2B24-A8A5-1271-98D88244C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750059"/>
              </p:ext>
            </p:extLst>
          </p:nvPr>
        </p:nvGraphicFramePr>
        <p:xfrm>
          <a:off x="1371600" y="587064"/>
          <a:ext cx="7086600" cy="6068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71884657"/>
                    </a:ext>
                  </a:extLst>
                </a:gridCol>
                <a:gridCol w="873496">
                  <a:extLst>
                    <a:ext uri="{9D8B030D-6E8A-4147-A177-3AD203B41FA5}">
                      <a16:colId xmlns:a16="http://schemas.microsoft.com/office/drawing/2014/main" val="3888436311"/>
                    </a:ext>
                  </a:extLst>
                </a:gridCol>
                <a:gridCol w="1987302">
                  <a:extLst>
                    <a:ext uri="{9D8B030D-6E8A-4147-A177-3AD203B41FA5}">
                      <a16:colId xmlns:a16="http://schemas.microsoft.com/office/drawing/2014/main" val="2197698273"/>
                    </a:ext>
                  </a:extLst>
                </a:gridCol>
                <a:gridCol w="879584">
                  <a:extLst>
                    <a:ext uri="{9D8B030D-6E8A-4147-A177-3AD203B41FA5}">
                      <a16:colId xmlns:a16="http://schemas.microsoft.com/office/drawing/2014/main" val="1185220538"/>
                    </a:ext>
                  </a:extLst>
                </a:gridCol>
                <a:gridCol w="813271">
                  <a:extLst>
                    <a:ext uri="{9D8B030D-6E8A-4147-A177-3AD203B41FA5}">
                      <a16:colId xmlns:a16="http://schemas.microsoft.com/office/drawing/2014/main" val="844989966"/>
                    </a:ext>
                  </a:extLst>
                </a:gridCol>
                <a:gridCol w="1389947">
                  <a:extLst>
                    <a:ext uri="{9D8B030D-6E8A-4147-A177-3AD203B41FA5}">
                      <a16:colId xmlns:a16="http://schemas.microsoft.com/office/drawing/2014/main" val="2194662685"/>
                    </a:ext>
                  </a:extLst>
                </a:gridCol>
              </a:tblGrid>
              <a:tr h="6427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Version/Model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Speed/Performance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Quantity/Usage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871544"/>
                  </a:ext>
                </a:extLst>
              </a:tr>
              <a:tr h="6427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Wi-Fi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ESP32-WROOM-32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 MHz Dual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mm x 25.5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(Main microcontroller + Wi-Fi)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428495"/>
                  </a:ext>
                </a:extLst>
              </a:tr>
              <a:tr h="642796">
                <a:tc>
                  <a:txBody>
                    <a:bodyPr/>
                    <a:lstStyle/>
                    <a:p>
                      <a:pPr algn="just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KY-039 / MAX30100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0–200 bpm (typical 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Analog/Digital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(Heart rate &amp; SpO₂ monitoring)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883159"/>
                  </a:ext>
                </a:extLst>
              </a:tr>
              <a:tr h="6427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Blood Pressure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MPX5050/Custom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0–300 mmHg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(Blood pressure detection)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437641"/>
                  </a:ext>
                </a:extLst>
              </a:tr>
              <a:tr h="6427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LM35 / DS18B20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±0.5°C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~TO-92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Analog/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(Body temperature monitoring)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11749"/>
                  </a:ext>
                </a:extLst>
              </a:tr>
              <a:tr h="6427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3.7V–5V regulated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(Power for ESP32 and sensors)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361085"/>
                  </a:ext>
                </a:extLst>
              </a:tr>
              <a:tr h="455314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Jumper Wires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Male-Female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10–15 (Sensor connections)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508031"/>
                  </a:ext>
                </a:extLst>
              </a:tr>
              <a:tr h="642796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Breadboard/PC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~8 cm x 6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Reusable/Custom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(Prototyping sensor circuit)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320619"/>
                  </a:ext>
                </a:extLst>
              </a:tr>
              <a:tr h="455314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Android/iOS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Min. 2GB RAM, Wi-Fi enabled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User's 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(Frontend app interface)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76178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998BF63-B561-8497-7C75-43AE9B178AAF}"/>
              </a:ext>
            </a:extLst>
          </p:cNvPr>
          <p:cNvSpPr txBox="1"/>
          <p:nvPr/>
        </p:nvSpPr>
        <p:spPr>
          <a:xfrm>
            <a:off x="2514600" y="-25400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242293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5690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4E047D-A0C1-3E8F-F6AF-CF12FF1AC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990" y="1169798"/>
            <a:ext cx="7277658" cy="3742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C09D59-3E98-E574-37B7-78587B3FAA0B}"/>
              </a:ext>
            </a:extLst>
          </p:cNvPr>
          <p:cNvSpPr txBox="1"/>
          <p:nvPr/>
        </p:nvSpPr>
        <p:spPr>
          <a:xfrm>
            <a:off x="5029200" y="1377569"/>
            <a:ext cx="1342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Cloud Platform</a:t>
            </a:r>
          </a:p>
        </p:txBody>
      </p:sp>
    </p:spTree>
    <p:extLst>
      <p:ext uri="{BB962C8B-B14F-4D97-AF65-F5344CB8AC3E}">
        <p14:creationId xmlns:p14="http://schemas.microsoft.com/office/powerpoint/2010/main" val="1022258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015805"/>
              </p:ext>
            </p:extLst>
          </p:nvPr>
        </p:nvGraphicFramePr>
        <p:xfrm>
          <a:off x="1784042" y="990600"/>
          <a:ext cx="66294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Descriptions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sensor data collected from users (Heart Rate, Blood Pressure, SpO₂, Temperature). No external dataset used; data is built through live monitoring.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monitoring, anomaly detection, real-time alerts, and remote access via mobile application.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collect vital signs → data sent via API to backend → anomaly detection → alert module triggers notifications → data stored in database.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(Mobile App), Backend (Python &amp; Node.js services), ESP32 microcontroller, Cloud database for data storage &amp; authentication, alert system via SMS or app.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testing of sensor data capture, alert generation under abnormal conditions, API and cloud connectivity testing, mobile app interface validation.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716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table">
            <a:extLst>
              <a:ext uri="{FF2B5EF4-FFF2-40B4-BE49-F238E27FC236}">
                <a16:creationId xmlns:a16="http://schemas.microsoft.com/office/drawing/2014/main" id="{2AE45A4B-406F-DE50-8D1D-39273AE51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155072"/>
            <a:ext cx="7638288" cy="563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845640-2893-B8C7-E5D4-2549356DE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97" y="1591258"/>
            <a:ext cx="8017626" cy="465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93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 fontScale="92500"/>
          </a:bodyPr>
          <a:lstStyle/>
          <a:p>
            <a:pPr marL="82296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Indumathy, N., and Kiran Kumari Patil. “Medical Alert System for Remote Health Monitoring Using Sensors and Cloud Computing.” International Journal of Research in Engineering and Technology 3.4 (2014): 884–888.</a:t>
            </a:r>
          </a:p>
          <a:p>
            <a:pPr marL="82296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Zheng, J. W., Z. B. Zhang, T. H. Wu, and Y. Zhang. “A wearable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mobihealth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system supporting real-time diagnosis and alarm.” Medical &amp; Biological Engineering &amp; Computing 45.9 (2007): 877–885.</a:t>
            </a:r>
          </a:p>
          <a:p>
            <a:pPr marL="82296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Dhulipala, V. R. Sarma, and G.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R.Kanagachidambaresan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“Cardiac Care Assistance using Self Configured Sensor Network—a Remote Patient Monitoring System.” Journal of the Institution of Engineers (India): Series B (2014). DOI: 10.1007/s40031-014-0084-1.</a:t>
            </a:r>
          </a:p>
          <a:p>
            <a:pPr marL="82296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Valliappan, S. P., Prithvi Raj Mohan B., and Rakesh Kumar S. “Design of Low-Cost, Wearable Remote Health Monitoring and Alert System for Elderly Heart Patients.” Proceedings of the IEEE International Conference on IoT and its Applications (ICIOT 2017), E.G.S. Pillay Engineering College,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Nagapattinam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India, 2017. ISBN: 978-93-84893-49-4.</a:t>
            </a:r>
          </a:p>
          <a:p>
            <a:pPr marL="82296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Gusev, Marjan, Aleksandar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Stojmenski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Ana Guseva.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ECGalert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Heart Attack Alerting System.” Communications in Computer and Information Science, vol. 778, 2017, pp. 27–38. Springer, doi:10.1007/978-3-319-67597-8_3.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</a:rPr>
              <a:pPr algn="l"/>
              <a:t>5/20/2025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10000" y="6553200"/>
            <a:ext cx="2057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226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44F12-09B9-1A15-BA38-BF38B671A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304800"/>
            <a:ext cx="7498080" cy="5943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Raut,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Shreemauli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Sahil Vahora, Viren Shah, Ronak Ranka, and Mohini Reddy. “IoT Based Real Time Heart Health Monitoring System.” International Research Journal of Engineering and Technology (IRJET) 8.4 (2021): 3902–3909.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Gay, Valerie, and Peter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Leijdekkers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“A Health Monitoring System Using Smart Phones and Wearable Sensors.” International Journal of ARM 8.2 (2007): 29–36.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Sethuraman, Sibi C., Pranav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Kompally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Saraju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Mohanty, and Uma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Choppali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MyWear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Smart Wear for Continuous Body Vital Monitoring and Emergency Alert."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arXiv:2010.08866 (2020).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Kannan, Sowrirajan. "Wheats: A Wearable Personal Healthcare and Emergency Alert and Tracking System." European Journal of Scientific Research 85, no. 3 (2012): 382–393.</a:t>
            </a:r>
          </a:p>
          <a:p>
            <a:pPr marL="82296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 Zahra,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Fatimatuz, I Dewa Gede Hari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Wisana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Priyambada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Cahya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Nugraha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Hayder J.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Hassaballah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"Design a Monitoring Device for Heart-Attack Early Detection Based on Respiration Rate and Body Temperature Parameters." Indonesian Journal of Electronics, Electromedical Engineering, and Medical Informatics (IJEEEMI) 3, no. 3 (2021): 114–120.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3B4F-8C42-CA49-81DB-E9438547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001E-140B-4FCD-B8A9-813B90823C1E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4AEC-9A5E-3B5F-2295-51D10A25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ISE, SCEM, </a:t>
            </a:r>
            <a:r>
              <a:rPr lang="en-US" dirty="0" err="1"/>
              <a:t>Mangaluru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7F52C-8CB2-ABCA-B05F-94643DCC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51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6D860-59BB-1700-30D1-ECD2D2F3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168" y="381000"/>
            <a:ext cx="7498080" cy="57912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Singh, Gurdeep. "Wearable IoT (w-IoT) artificial intelligence (AI) solution for sustainable smart-healthcare." International Journal of Information Management Data Insights 5 (2025): 100291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Manikandan, R., S. Arunprakash, Rakan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Alsowail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Tharani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Pandiaraj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"A novel wireless sensor network deployment for monitoring and predicting abnormal actions in medical environment and patient health state." Alexandria Engineering Journal 119 (2025): 149–167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Singh, Gurdeep. "Wearable IoT (w-IoT) artificial intelligence (AI) solution for sustainable smart-healthcare." International Journal of Information Management Data Insights 5 (2025): 100291</a:t>
            </a: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Otoom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Ahmed Fawzi, et al. "Effective diagnosis and monitoring of heart disease." International Journal of Software Engineering and Its Applications 9.1 (2015): 143–156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Almarashdeh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Alsmadi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K., Farag, T.,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Albahussain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S., Badawi, U. A.,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Altuwaijri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Almaimoni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Alowaid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Alshabanah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Alrajhi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Al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Fraihet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Jaradat, G. (2019). Real-time elderly healthcare monitoring expert system using wireless sensor network (arXiv:1908.03518v1).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https://arxiv.org/abs/1908.03518v1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8B82A-868B-4B96-B794-95E8EA7D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001E-140B-4FCD-B8A9-813B90823C1E}" type="datetime1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71F13-9855-9CAB-E487-EFCDC76A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79087-4BD6-7933-87E6-3A6DA4FF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27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67556-EFCA-F953-1C16-7A6AD3B3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A9FC-9262-46CA-97ED-E780013DA1ED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9188D-9B6B-EC69-55A2-B949EE6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7D6CB-D1B4-3084-4345-B2DAF741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E6612-62C0-93E5-DFB4-0B3ED9C05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81000"/>
            <a:ext cx="6705600" cy="4470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234C05-DDAD-4C06-F360-41727570035E}"/>
                  </a:ext>
                </a:extLst>
              </p14:cNvPr>
              <p14:cNvContentPartPr/>
              <p14:nvPr/>
            </p14:nvContentPartPr>
            <p14:xfrm>
              <a:off x="6302330" y="4296108"/>
              <a:ext cx="569520" cy="30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234C05-DDAD-4C06-F360-4172757003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48330" y="4188468"/>
                <a:ext cx="6771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3508CF9-9664-2C5E-9368-0EC07BB340F9}"/>
                  </a:ext>
                </a:extLst>
              </p14:cNvPr>
              <p14:cNvContentPartPr/>
              <p14:nvPr/>
            </p14:nvContentPartPr>
            <p14:xfrm>
              <a:off x="6321770" y="4315908"/>
              <a:ext cx="10436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3508CF9-9664-2C5E-9368-0EC07BB340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7770" y="4099908"/>
                <a:ext cx="115128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48B5FF5-3247-7E2D-8688-DF454C3325D6}"/>
              </a:ext>
            </a:extLst>
          </p:cNvPr>
          <p:cNvSpPr txBox="1"/>
          <p:nvPr/>
        </p:nvSpPr>
        <p:spPr>
          <a:xfrm>
            <a:off x="3276600" y="4572000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Sensor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45EBA-775D-B9D6-C941-569AC5F96E39}"/>
              </a:ext>
            </a:extLst>
          </p:cNvPr>
          <p:cNvSpPr txBox="1"/>
          <p:nvPr/>
        </p:nvSpPr>
        <p:spPr>
          <a:xfrm>
            <a:off x="6408985" y="4126742"/>
            <a:ext cx="964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BAND</a:t>
            </a:r>
          </a:p>
        </p:txBody>
      </p:sp>
    </p:spTree>
    <p:extLst>
      <p:ext uri="{BB962C8B-B14F-4D97-AF65-F5344CB8AC3E}">
        <p14:creationId xmlns:p14="http://schemas.microsoft.com/office/powerpoint/2010/main" val="41220887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3259</TotalTime>
  <Words>2840</Words>
  <Application>Microsoft Office PowerPoint</Application>
  <PresentationFormat>On-screen Show (4:3)</PresentationFormat>
  <Paragraphs>390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Gill Sans MT</vt:lpstr>
      <vt:lpstr>Times New Roman</vt:lpstr>
      <vt:lpstr>Verdana</vt:lpstr>
      <vt:lpstr>Wingdings 2</vt:lpstr>
      <vt:lpstr>Solstice</vt:lpstr>
      <vt:lpstr>Real-Time Heart Health Monitoring and Emergency Alert System </vt:lpstr>
      <vt:lpstr>Project Introduction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Problem Statement</vt:lpstr>
      <vt:lpstr>Objectives </vt:lpstr>
      <vt:lpstr>Expected Outcomes</vt:lpstr>
      <vt:lpstr>Expected Outcomes</vt:lpstr>
      <vt:lpstr>Software Requirements</vt:lpstr>
      <vt:lpstr>PowerPoint Presentation</vt:lpstr>
      <vt:lpstr>Proposed Architecture Diagram</vt:lpstr>
      <vt:lpstr>Proposed Architecture Diagram</vt:lpstr>
      <vt:lpstr>Gantt Chart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SAHYADRI</dc:creator>
  <cp:lastModifiedBy>Thrisha Bangera</cp:lastModifiedBy>
  <cp:revision>36</cp:revision>
  <cp:lastPrinted>2020-11-03T06:19:37Z</cp:lastPrinted>
  <dcterms:created xsi:type="dcterms:W3CDTF">2006-08-16T00:00:00Z</dcterms:created>
  <dcterms:modified xsi:type="dcterms:W3CDTF">2025-05-20T10:55:24Z</dcterms:modified>
</cp:coreProperties>
</file>